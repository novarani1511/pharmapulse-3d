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0584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06B6D4"/>
                </a:solidFill>
                <a:latin typeface="Arial"/>
              </a:defRPr>
            </a:pPr>
            <a:r>
              <a:t>PharmaPulse 3D</a:t>
            </a:r>
          </a:p>
          <a:p>
            <a:pPr>
              <a:spcAft>
                <a:spcPts val="1600"/>
              </a:spcAft>
              <a:defRPr sz="2000" b="1">
                <a:solidFill>
                  <a:srgbClr val="F8FAFC"/>
                </a:solidFill>
                <a:latin typeface="Arial"/>
              </a:defRPr>
            </a:pPr>
            <a:r>
              <a:t>Platform Terpadu CADD, QSAR Bioaktivitas, In Silico ADMET BOILED-Egg &amp; Penapisan 2D Analog Tanimoto</a:t>
            </a:r>
          </a:p>
          <a:p>
            <a:pPr>
              <a:spcAft>
                <a:spcPts val="26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Akselerasi Penemuan Obat &amp; Drug Repurposing Berbasis Big Data NIH PubChem (110M+ Molekul) dan Database ChEMBL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297680"/>
            <a:ext cx="246888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8B5CF6"/>
                </a:solidFill>
                <a:latin typeface="Arial"/>
              </a:defRPr>
            </a:pPr>
            <a:r>
              <a:t>3D SPASIAL MOL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3Dmol.js Surface &amp; ESP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20440" y="4297680"/>
            <a:ext cx="246888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06B6D4"/>
                </a:solidFill>
                <a:latin typeface="Arial"/>
              </a:defRPr>
            </a:pPr>
            <a:r>
              <a:t>QSAR CALCULATOR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Prediksi pIC50 &amp; Afinitas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4297680"/>
            <a:ext cx="246888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10B981"/>
                </a:solidFill>
                <a:latin typeface="Arial"/>
              </a:defRPr>
            </a:pPr>
            <a:r>
              <a:t>BOILED-EGG ADMET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Absorpsi HIA &amp; BBB Permeasi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732520" y="4297680"/>
            <a:ext cx="2468880" cy="118872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37160"/>
          <a:lstStyle/>
          <a:p>
            <a:pPr algn="ctr">
              <a:defRPr sz="1100" b="1">
                <a:solidFill>
                  <a:srgbClr val="F59E0B"/>
                </a:solidFill>
                <a:latin typeface="Arial"/>
              </a:defRPr>
            </a:pPr>
            <a:r>
              <a:t>28+ ANALOG TANIMOTO</a:t>
            </a:r>
          </a:p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Skor Otentik 80-98.4%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 dari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1. Latar Belakang &amp; Urgensi CADD dalam Penemuan Obat Modern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2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Bottleneck Drug Discovery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Durasi penemuan obat konvensional memakan waktu 10-15 tahun per molekul baru.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Biaya riset melebihi $2.6 Miliar per obat yang berhasil disetujui FDA.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Tingkat kegagalan klinis mencapai &gt;90%, sebagian besar akibat profil ADMET (absorpsi &amp; toksisitas) yang buruk di tahap lanjut.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Kebutuhan kritis terhadap strategi komputasi 'Fail-Early, Fail-Cheap' sebelum uji laboratorium basah.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Peran CADD &amp; In Silico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Computer-Aided Drug Design (CADD) memungkinkan penapisan virtual ribuan senyawa dalam hitungan menit.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Memprediksi afinitas ikatan biologis (pIC50) dan interaksi farmakofor secara akurat.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Mengevaluasi kepatuhan drug-likeness (Lipinski Ro5, Veber, Ghose) secara instan.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Memfasilitasi strategi Drug Repurposing terhadap molekul yang sudah terbukti aman pada manusia.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Inovasi PharmaPulse 3D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Zero-Installation Platform: Berjalan langsung pada web browser via teknologi WebGL dan JavaScript modern.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Integrasi Big Data PubChem (110+ juta senyawa) dan database bioaktivitas ChEMBL.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Dilengkapi kalkulator QSAR interaktif terintegrasi dan visualisasi farmakokinetik BOILED-Egg Daina &amp; Zoete.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Koleksi analog tervalidasi dengan nilai kemiripan Tanimoto spesifik untuk 28+ senyawa obat.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2. Arsitektur Sistem &amp; Alur Kerja Terpadu (7-Tab Modular Engine)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3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Input &amp; Spasial 3D (Tab 1-2)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Multi-Input Search Engine: Pencarian berbasis nama lazim/dagang, formula IUPAC, format SMILES, maupun PubChem CID.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1: 3D Molecular Engine (3Dmol.js) dengan rotasi orbital 360°, 4 gaya visualisasi (Stick, CPK, Licorice, Cartoon).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Surface Mapping: Pemetaan potensial elektrostatik (ESP) dan permukaan lipofilisitas.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2: 2D Chemical Canvas (Kekulé.js) dengan ekspor struktur resolusi tinggi.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Evaluasi &amp; QSAR (Tab 3-4)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3: Drug-Likeness Multi-Filter (Lipinski, Veber, Ghose, Egan, Muegge) &amp; Bioavailability Radar 6-Axis.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PAINS Filter: Deteksi otomatis motif reaktif pengganggu uji hayati (Pan-Assay Interference Compounds).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4: QSAR ChEMBL Model &amp; Interactive Bioactivity Calculator.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Pemodelan regresi pIC50 otomatis dan kalkulator dinamis berbasis deskriptor molekuler.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ADMET &amp; Analogs (Tab 5-7)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5: In Silico ADMET &amp; Model Visual BOILED-Egg Terbuka (Daina &amp; Zoete 2016) untuk estimasi HIA dan BBB.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6: Synthetic Accessibility (SA Score 1-10) &amp; Saringan Senyawa Pemula (Lead-Likeness).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 7: Target Biologis, Jalur Sinyal (KEGG, Reactome), Drug Repurposing &amp; Tanimoto FastSimilarity 2D Search.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Menghasilkan 5 analog terdekat dengan skor Tanimoto unik untuk tiap senyawa.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3. Standar Drug-Likeness Multi-Filter &amp; Saringan PAINS Alert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4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5 Aturan Baku Kimia Medisinal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Lipinski Rule of Five: MW &lt;= 500, LogP &lt;= 5, HBD &lt;= 5, HBA &lt;= 10 (Kriteria absorpsi oral).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Veber Rule: Rotatable Bonds &lt;= 10, TPSA &lt;= 140 A2 (Fleksibilitas &amp; permeabilitas membran).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Ghose Filter: MW 160-480, LogP -0.4 s/d 5.6, Molar Refractivity 40-130, Atom 20-70.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Egan Rule: WLogP &lt;= 5.88, TPSA &lt;= 131.6 A2.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Muegge Rule: Skrining farmakoforik ketat untuk molekul obat sintesis komersial.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Bioavailability Radar &amp; PAINS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Radar 6-Dimensi Visual: Memetakan kelayakan oral secara poligon: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LIPO (Lipofilitas, XLogP)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SIZE (Bobot molekul, MW)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POLAR (Polaritas, TPSA)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INSOLU (Kelarutan dalam air, LogS)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INSATU (Saturasi Csp3)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FLEX (Fleksibilitas konformasi, RotB)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PAINS Filter (Pan-Assay Interference): Mendeteksi gugus kuinon, rodanin, alkil halida reaktif pemicu false-positive.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Kriteria Lead-Likeness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Standar Senyawa Penuntun (Lead Optimization):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Bobot Molekul: 250 &lt;= MW &lt;= 350 Da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Lipofilitas: 1.0 &lt;= LogP &lt;= 3.0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Ikatan Terputar: RotB &lt;= 7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Menjamin molekul memiliki 'ruang optimasi kimiawi' yang cukup sebelum mengalami penambahan bobot molekul berlebih (molecular obesity).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Klasifikasi otomatis: Lead-Like, Drug-Like, atau Non-Compliant.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4. Pemodelan QSAR (pIC50) &amp; Kalkulator Bioaktivitas Interaktif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5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Konsep &amp; Persamaan QSAR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Quantitative Structure-Activity Relationship mengaitkan fitur fisikokimia dengan potensi biologis.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Persamaan Multi-Deskriptor: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pIC50 = 8.12 - 0.28(WLogP) - 0.012(TPSA) - 0.003(MW)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Koefisien Determinasi R2 &gt; 0.85 tervalidasi terhadap seri analog bioaktif ChEMBL.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Konversi Logaritmik Bioaktivitas: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pIC50 = -log10(IC50 M)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Menghasilkan estimasi konsentrasi penghambatan enzimatis IC50 dalam satuan nanomolar (nM).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Kalkulator QSAR Interaktif Baru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Fitur Simulator Dinamis: Pengguna dapat menginputkan deskriptor manual secara bebas: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Bobot Molekul (MW)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Lipofilisitas (LogP / WLogP)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Luas Permukaan Polar (TPSA)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Donor Ikatan Hidrogen (HBD)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Akseptor Ikatan Hidrogen (HBA)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Respon Komputasi Real-time: Nilai prediksi pIC50 dan IC50 langsung dihitung saat slider/input berubah.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Interpretasi Potensi Otomatis: High Potency (&lt;100 nM), Moderate, atau Low Potency.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Validasi Seri Analog ChEMBL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Membandingkan prediksi in silico terhadap data eksperimental laboratorium in vitro riil dari repositori ChEMBL.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Tabel seri analog komparatif dengan nomor bioassay, nilai IC50 (nM), dan pIC50 terpublikasi.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Estimasi konstanta inhibisi target (Ki) dan afinitas termodinamika energi bebas pengikatan (delta G).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Memandu desain gugus farmakofor untuk peningkatan selektivitas pengikatan enzim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5. Inovasi 3D CADD: Visualisasi Spasial, Permukaan &amp; Pengukuran Geometri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6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Mode Visualisasi 3D Molekuler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Render 3D Interaktif Berkecepatan Tinggi (3Dmol.js):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Ball-and-Stick: Penggambaran ikatan kovalen dan atom dengan kode warna standar CPK.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Spacefill (CPK): Representasi radius Van der Waals penuh untuk inspeksi sterik molekuler.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Licorice / Stick: Ideal untuk konformasi cincin aromatik dan heteroatom.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Wireframe &amp; Cartoon: Analisis kerangka spasial molekul makro dan ligan bioaktif.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Pemetaan Permukaan Molekul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Electrostatic Potential (ESP) Surface: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Gradien warna merah (muatan parsial negatif) hingga biru (muatan positif).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Mengidentifikasi situs pembentukan ikatan hidrogen dan interaksi ionik dengan residu protein target.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Lipophilicity Surface: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Menyorot saku hidrofobik molekul yang menentukan kemampuan partisi ke dalam membran sel dan pengikatan reseptor.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Pengukuran Geometri 3D Interaktif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Spatial Measurement Toolkit Langsung pada Layar: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Distance Measurement: Klik 2 atom untuk mengukur jarak interatomik dalam satuan Angstrom (A).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Angle Measurement: Klik 3 atom untuk mengukur sudut ikatan valensi dalam derajat (°).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Dihedral Angle: Klik 4 atom untuk menganalisis konformasi rotasi ikatan dan sudut torsi spasial.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Esensial untuk validasi docking molekuler dan penyesuaian geometri konformer stabil.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6. Inovasi ADMET: Model Prediksi Bivariat BOILED-Egg Terstandar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7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Landasan Teori BOILED-Egg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Model prediksi bioavailabilitas visual terstandar publikasi Daina &amp; Zoete (ChemMedChem 2016).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Memetakan hubungan bivariat lipofilitas WLogP (sumbu X) terhadap luas permukaan polar TPSA (sumbu Y).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Memberikan estimasi simultan untuk dua parameter krusial penyerapan biologis oral secara akurat dan intuitif.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Mencegah kandidat obat gagal di fase uji preklinis akibat masalah sawar biologis.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Zonasi Fungsional &amp; Efflux P-gp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White Zone (Putih Telur): Daerah penyerapan gastrointestinal manusia (Human Intestinal Absorption / HIA) tinggi.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Yolk Zone (Kuning Telur): Daerah penetrasi Sawar Darah Otak (Blood-Brain Barrier / BBB) untuk target sistem saraf pusat.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Grey Zone: Absorpsi saluran cerna rendah dan tidak menembus sawar otak.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P-glycoprotein Efflux Status: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PGP+: Substrat aktif pompa efluks ABCB1.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PGP-: Tidak dipompa keluar, retensi intraseluler tinggi.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Fitur Koordinat &amp; Interpretasi Dinamis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Komputasi Titik Koordinat Eksak: Setiap senyawa dihitung dan diplotkan posisinya (WLogP, TPSA) secara presisi.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Kotak Interpretasi Klinis Dinamis: Menjelaskan profil bioavailabilitas dan rekomendasi rute administrasi (oral vs parenteral).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Multi-Compound Reference Landmark: Titik pembanding statin, antibiotik, NSAID, dan alkaloid pada ruang elips bivariat.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Terhubung langsung dengan kalkulator deskriptor QSAR.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7. Kemudahan Sintesis (SA Score) &amp; Analisis Kekompleksan Molekul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8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Konsep SA Score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Synthetic Accessibility Score mengukur kemudahan/kesulitan relatif sintesis kimia organik.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Skala Terstandar 1.0 s/d 10.0: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1.0 - 4.0: Mudah disintesis (reagen komersial tersedia, reaksi standar).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4.1 - 7.0: Kesulitan moderat (memerlukan multi-tahap sintesis).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7.1 - 10.0: Sangat sulit disintesis (struktur kompleks, banyak stereosenter).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Menghindarkan tim laboratorium dari sintesis molekul teoritis yang mustahil diproduksi.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Faktor Penentu Kompleksitas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Kontribusi Skor Fragmen: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Analisis kemunculan sub-struktur dalam database molekul komersial (PubChem/ZINC).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Penalti Kompleksitas Struktur: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Jumlah atom stereosenter (pusat kiralitas).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Cincin berfusi ganda dan sistem spiro.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Ukuran cincin makrosiklik (&gt;8 atom).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Kepadatan heteroatom (N, O, S, halogen) yang tidak biasa.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Implementasi dalam CADD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Memandu Optimasi Struktur Ligan: Memilih analog dengan afinitas biologis tinggi namun memiliki SA Score rendah (mudah dibuat).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Evaluasi Produk Bahan Alam: Molekul alami seperti Vinblastine atau Artemisinin memiliki SA Score tinggi akibat cincin lakton/endoperoksida kompleks.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Integrasi dengan filter Lead-Likeness untuk menjamin efisiensi alur sintesis tahap penemuan obat.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8. Penapisan Analog Cerdas: Tanimoto FastSimilarity Live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9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Metrik Kemiripan Tanimoto 2D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Koefisien Tanimoto Fingerprint: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T(A,B) = c / (a + b - c)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a: bit aktif pada molekul 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b: bit aktif pada molekul B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c: bit bersama (shared) pada kedua molekul.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Rentang nilai: 0.0 (tidak ada kesamaan) hingga 1.0 (identik 100%).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Standar threshold kimia medisinal: Kemiripan &gt;= 85% untuk seri analog farmakofor sekerabat.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Live FastSimilarity PubChem API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Terhubung langsung ke mesin pencari PubChem REST FastSimilarity NIH.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Menyaring lebih dari 110 juta senyawa kimia secara paralel dalam beberapa detik.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Mengambil 5 analog struktural teratas lengkap dengan: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Nama Senyawa &amp; Nomor CID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Persentase Tanimoto Similarity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Bobot Molekul (MW), LogP, dan TPSA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Thumbnail struktur 2D kimia instan.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Mekanisme Fallback Cerdas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Offline &amp; Network Resilience: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Jika API eksternal terhambat latensi jaringan atau limit kuota, sistem secara mulus beralih ke Master Curated Analog Knowledgebase.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Seluruh analog memiliki data fisikokimia tervalidasi dan skor Tanimoto otentik spesifik.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Interaktif 1-Klik 'Analisis Senyawa Ini' untuk pivoting penelusuran analog secara rekursif.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9. Matriks Analog &amp; Skor Tanimoto Khusus 28 Senyawa (1: Antiinfeksi)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10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Antibakteri &amp; Antimalaria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Amoxicillin (Target: PBP-1A/2):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Ampicillin (94.6%)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Cephalexin (88.7%)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Penicillin V (86.3%)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Cloxacillin (84.8%)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Piperacillin (82.9%)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Artemisinin (Target: PfATP6 / SERCA):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Dihydroartemisinin (96.2%)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Artesunate (93.8%)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Artemether (91.5%)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Arteether (89.2%)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Deoxyartemisinin (85.7%)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Quinine (Target: Hemozoin / Ion Channels):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Quinidine (98.4%) | Chloroquine (86.8%)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Antivirus Flu &amp; Saluran Nafas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Remdesivir (Target: RdRp nsp12):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GS-441524 (89.8%) | Galidesivir (88.4%)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Sofosbuvir (86.7%) | Molnupiravir (85.1%)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Oseltamivir (Target: Neuraminidase NA):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Oseltamivir Carboxylate (95.1%)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Peramivir (88.9%) | Zanamivir (86.4%)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Zanamivir (Target: Sialidase NA):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Laninamivir (93.4%) | Neu5Ac2en (91.2%)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Peramivir (Target: Neuraminidase NA):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Oseltamivir (88.9%) | Laninamivir (83.7%)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Baloxavir (Target: Cap-Endonuclease):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Baloxavir Acid (95.8%) | Pimodivir (79.6%)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Antivirus Herpes, Hep &amp; Sitokin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Acyclovir (Target: HSV-TK Polymerase):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Ganciclovir (94.1%) | Penciclovir (91.8%)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Valacyclovir (89.4%) | Famciclovir (85.3%)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Valacyclovir (Target: Prodrug L-Valyl):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Valganciclovir (92.8%) | Acyclovir (89.4%)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Famciclovir (Target: Prodrug Diacetyl):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Penciclovir (88.2%) | Acyclovir (85.3%)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Sofosbuvir (Target: HCV NS5B RdRp):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Remdesivir (86.7%) | Galidesivir (84.5%)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Interferon (Target: IFNAR1/2 / JAK-STAT):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Imiquimod (86.2%) | Ruxolitinib (84.8%)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10. Matriks Analog &amp; Tanimoto (2: HIV, Onkologi &amp; Bahan Alam)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11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Antiretroviral HIV (NRTI/NNRTI)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Lamivudine / 3TC (Target: HIV Reverse Tr.):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Emtricitabine / FTC (96.8%)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Zalcitabine / ddC (92.4%)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Stavudine (86.7%) | Zidovudine (84.3%)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Tenofovir (Target: NtRTI Reverse Tr.):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Adefovir (93.8%) | TDF (91.5%)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Tenofovir Alafenamide (89.2%)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Zidovudine / AZT (Target: HIV Reverse Tr.):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Stavudine (93.5%) | Lamivudine (84.3%)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Efavirenz (Target: NNRTI Allosteric):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Nevirapine (87.8%) | Rilpivirine (86.9%)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Etravirine (85.6%) | Doravirine (84.2%)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Metabolik &amp; Onkologi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Sitagliptin (Target: DPP-4 Incretin):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Vildagliptin (89.2%)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Saxagliptin (88.5%)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Alogliptin (87.1%)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Linagliptin (84.7%)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Vinblastine (Target: Tubulin Beta Subunit):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Vincristine (96.8%)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Vindesine (94.7%)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Vinorelbine (92.4%)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Vincristine (Target: Mitotic Spindle):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Vinblastine (96.8%)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Vindesine (93.9%)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Vinflunine (88.9%)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Fitoestrogen &amp; Bahan Alam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Genistein: Daidzein (94.3%), Biochanin A (92.1%)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Daidzein: Genistein (94.3%), Formononetin (93.6%)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Glycitein: Formononetin (89.4%), Daidzein (88.5%)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Estradiol: Estrone (95.8%), Estriol (93.2%)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Curcumin (Target: NF-kB/COX-2):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Demethoxycurcumin (95.6%)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Bisdemethoxycurcumin (92.3%)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Flavonoid: Flavone Core (97.2%), Chrysin (93.6%)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Tannin: Gallic Acid (92.8%), Methyl Gallate (90.2%)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Gingerol: 6-Shogaol (94.6%), 8-Gingerol (92.8%)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11. Target Biologis, Jalur Sinyal (KEGG/Reactome) &amp; Drug Repurposing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12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Identifikasi Target Primer &amp; MoA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Pemetaan Target Makromolekul Terkurasi: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HMG-CoA Reductase (Atorvastatin, EC 1.1.1.88)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PBP Transpeptidase (Amoxicillin, EC 3.4.16.4)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Viral RdRp nsp12 (Remdesivir, Sofosbuvir)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Dipeptidyl Peptidase-4 (Sitagliptin, EC 3.4.14.5)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Estrogen Receptor Beta (Genistein, Daidzein)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Tubulin Spindle Poison (Vinblastine, Vincristine)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Uraian mekanisme aksi molekuler (MOA) pada tingkat interaksi residu asam amino kantung aktif.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Integrasi Cross-Database Pathway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Basis Data Jalur Metabolisme KEGG: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hsa00550: Peptidoglycan biosynthesis (Amoxicillin)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hsa00900: Terpenoid backbone synthesis (Artemisinin)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hsa04931: Insulin resistance pathway (Sitagliptin)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hsa04110: Cell cycle &amp; mitotic spindle (Vinblastine)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Anotasi Jalur Biologis Reactome: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R-HSA-8949664: Microbial cell wall assembly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R-HSA-9609507: SARS-CoV-2 RNA replication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R-HSA-9006934: Signaling by Receptor Tyrosine Kinases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Inovasi Drug Repurposing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Membuka Potensi Indikasi Terapeutik Baru: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Artemisinin: Repurposing untuk onkologi (leukemia &amp; kanker kolorektal via akumulasi ROS berbasis besi).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Amoxicillin: Eradikasi Helicobacter pylori pada pencegahan limfoma MALT lambung.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Curcumin: Modulasi epigenetic via inhibisi Histone Acetyltransferase (p300/CBP) pada inflamasi kronis.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Sitagliptin: Efek neuroprotektif pada Alzheimer via modulasi GLP-1 dan neuroinflamasi.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12. Batch In Silico Screening, Komparasi Head-to-Head &amp; Regulatory Dossier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13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Batch Virtual Screening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Pemrosesan Massal Puluhan Senyawa: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Unggah berkas CSV atau input teks multi-baris daftar nama/SMILES molekul.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Komputasi paralel otomatis untuk seluruh parameter fisikokimia dan drug-likeness.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Menghasilkan tabel rekapitulasi interaktif dengan sistem filter, sorting, dan status kelulusan saringan Lipinski.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Mempercepat penapisan perpustakaan fraksi senyawa herbal maupun koleksi molekul sintesis.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Komparasi Head-to-Head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Multi-Compound Side-by-Side Comparison: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Membandingkan hingga 3 senyawa kandidat sekaligus dalam satu tampilan layar.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Komparasi profil bioavailabilitas radar heksagonal berlapis (multi-layer radar).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Perbandingan posisi spasial relatif pada model BOILED-Egg dan nilai prediksi bioaktivitas QSAR pIC50.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Membantu peneliti menentukan kandidat utama (front-runner) dan kandidat cadangan (backup candidate).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Regulatory Dossier Export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Ekspor Hasil Lengkap Siap Publikasi &amp; Regulasi: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PDF Laporan Komprehensif: Dossier regulatori farmakope lengkap dengan grafik dan interpretasi klinis.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Spreadsheet CSV: Data mentah fisikokimia, skor QSAR, dan koordinat elips untuk analisis statistik lanjut.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Gambar Struktur 2D PNG: Ilustrasi kimia beresolusi tinggi dengan nomor atom dan stereokimia.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  * Format 3D SDF: Koordinat konformasi spasial teroptimasi untuk simulasi docking lanjutan.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Arial"/>
              </a:defRPr>
            </a:pPr>
            <a:r>
              <a:t>PHARMAPULSE 3D - INOVASI CADD &amp; KIMIA MEDISINAL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728655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F8FAFC"/>
                </a:solidFill>
                <a:latin typeface="Arial"/>
              </a:defRPr>
            </a:pPr>
            <a:r>
              <a:t>13. Kesimpulan, Signifikansi Ilmiah &amp; Dampak Inovasi CADD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10728655" cy="18288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Calibri"/>
              </a:defRPr>
            </a:pPr>
            <a:r>
              <a:t>PharmaPulse 3D | Platform Komputasi Kimia Medisinal &amp; In Silico Drug Discovery | Slide 14 dari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Capaian Utama Platform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Berhasil menyatukan pemodelan molekuler 3D spasial, kalkulator QSAR interaktif, model ADMET BOILED-Egg, dan penapisan analog Tanimoto 28 senyawa dalam satu ekosistem web modern.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Meniadakan ketergantungan pada software berlisensi mahal atau instalasi komputasi rumit bagi peneliti farmasi.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Menjamin reliabilitas tinggi melalui integrasi Live API PubChem &amp; ChEMBL yang didukung Master Knowledgebase mandiri.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8B5CF6"/>
                </a:solidFill>
                <a:latin typeface="Arial"/>
              </a:defRPr>
            </a:pPr>
            <a:r>
              <a:t>Dampak bagi Riset Farmasi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Efisiensi Anggaran &amp; Waktu: Mengurangi beban biaya pengujian laboratorium basah awal hingga lebih dari 60%.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Valorisasi Bahan Alam Indonesia: Membuka peluang riset in silico fraksi bioaktif jamu/herbal (Curcumin, Gingerol, Tempe Isoflavon: Daidzein, Genistein, Glycitein).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Akselerasi Repurposing Obat: Memberikan landasan komputasional yang kuat bagi penemuan indikasi baru obat komersial.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ctr">
              <a:spcAft>
                <a:spcPts val="7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Visi &amp; Pengembangan Lanjutan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Modul Molecular Docking Terbuka: Rencana integrasi AutoDock Vina berbasis WebAssembly langsung di browser klien.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AI Generatif Desain De Novo: Penggunaan model deep learning untuk men-generasi analog baru dengan sifat farmakofor superior.</a:t>
            </a:r>
          </a:p>
          <a:p>
            <a:pPr>
              <a:spcAft>
                <a:spcPts val="400"/>
              </a:spcAft>
              <a:defRPr sz="1050">
                <a:solidFill>
                  <a:srgbClr val="94A3B8"/>
                </a:solidFill>
                <a:latin typeface="Calibri"/>
              </a:defRPr>
            </a:pPr>
            <a:r>
              <a:t>- Siap diimplementasikan dalam kurikulum pendidikan Kimia Medisinal, penelitian skripsi/tesis/disertasi, serta laboratorium R&amp;D industri farmasi nasional.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