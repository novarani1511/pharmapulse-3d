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06B6D4"/>
                </a:solidFill>
                <a:latin typeface="Arial"/>
              </a:defRPr>
            </a:pPr>
            <a:r>
              <a:t>PharmaPulse 3D</a:t>
            </a:r>
          </a:p>
          <a:p>
            <a:pPr>
              <a:spcAft>
                <a:spcPts val="2000"/>
              </a:spcAft>
              <a:defRPr sz="2000">
                <a:solidFill>
                  <a:srgbClr val="8B5CF6"/>
                </a:solidFill>
                <a:latin typeface="Calibri"/>
              </a:defRPr>
            </a:pPr>
            <a:r>
              <a:t>PubChem Powered Drug Discovery &amp; QSAR Physicochemical Analyzer</a:t>
            </a:r>
          </a:p>
          <a:p>
            <a:pPr>
              <a:spcAft>
                <a:spcPts val="3000"/>
              </a:spcAft>
              <a:defRPr sz="1400">
                <a:solidFill>
                  <a:srgbClr val="94A3B8"/>
                </a:solidFill>
                <a:latin typeface="Calibri"/>
              </a:defRPr>
            </a:pPr>
            <a:r>
              <a:t>Aplikasi Berbasis Web untuk Penapisan Kelayakan Obat (Druglikeness), Evaluasi Lipinski RO5, &amp; Visualisasi 3D Konformer Molekul secara Real-Time.</a:t>
            </a:r>
          </a:p>
          <a:p>
            <a:pPr>
              <a:defRPr sz="1400" b="1">
                <a:solidFill>
                  <a:srgbClr val="F8FAFC"/>
                </a:solidFill>
                <a:latin typeface="Arial"/>
              </a:defRPr>
            </a:pPr>
            <a:r>
              <a:t>Disusun oleh: Novarani | Bidang: Kimia Farmasi / Industri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Akademis | Slide 1 dari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Latar Belakang &amp; Urgensi Penelitian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Tantangan Desain Obat Klasik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Proses penemuan obat membutuhkan biaya tinggi dan waktu bertahun-tahun.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Banyak calon molekul obat gagal pada uji klinis akibat sifat permeabilitas dan absorpsi oral yang buruk.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Peran Aturan Lipinski (RO5)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Christopher A. Lipinski merumuskan Aturan Empat Parameter (Lipinski's Rule of Five).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Digunakan untuk memprediksi secara cepat permeabilitas membran sel dan bioavailabilitas oral molekul.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Kebutuhan Akses Data Real-Time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Laboratorium akademis &amp; R&amp;D industri membutuhkan alat bantu komputasi cepat.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Terhubung langsung dengan basis data molekul ilmiah tanpa perlu menginput parameter manual.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93192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Pentingnya Spatial 3D Conformer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Pemahaman spasial 3D molekul (panjang ikatan, gugus fungsi, dan kepolaran ruang).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Sangat vital dalam memprediksi interaksi molekul obat dengan reseptor biologis target.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Akademis | Slide 2 dari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Solusi &amp; Inovasi Teknologi PharmaPulse 3D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Integrasi PubChem API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Terhubung langsung dengan PubChem PUG-REST API (NIH/NLM).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Akses gratis tanpa API Key.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Menarik 15+ deskriptor sifat fisikokimia secara otomatis dalam hitungan milidetik.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3Dmol.js Engine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Visualisator konformer 3D molekul interaktif.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Rotasi otomatis 360°, zoom, dan penyesuaian gaya (Ball &amp; Stick, Spacefill, Wireframe).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Pewarnaan atom standar CPK.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828800"/>
            <a:ext cx="32918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Multi-QSAR Evaluator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Penilaian otomatis Lipinski RO5.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Saringan Veber Filter &amp; Ghose Filter.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Pfizer 3/75 Toxicity Risk Rule.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Grafik Radar Lipofilitas berbasis Chart.js.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Akademis | Slide 3 dari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Arsitektur Sistem &amp; Alur Kerja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10728655" cy="914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1. Input Pengguna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Pengguna memasukkan Nama Obat (misal: Paracetamol, Atorvastatin), SMILES, atau CID.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39"/>
            <a:ext cx="10728655" cy="914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2. Query PubChem API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Aplikasi melakukan kueri HTTP REST API untuk mengambil CID, deskriptor fisikokimia, &amp; koordinat 3D SDF.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10728655" cy="914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3. Komputasi QSAR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Algoritma mengevaluasi pelanggaran Lipinski (MW &lt;= 500, LogP &lt;= 5, HBD &lt;= 5, HBA &lt;= 10) &amp; saringan pendukung.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728655" cy="9144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4. Rendering UI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Menampilkan hasil evaluasi pada dashboard Dark Glassmorphic beserta Grafik Radar &amp; 3D Viewer.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Akademis | Slide 4 dari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Parameter Evaluasi Lipinski RO5 &amp; QSAR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4 Aturan Lipinski (RO5)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Bobot Molekul (MW): &lt;= 500 g/mol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Partisi Lipofilitas (XLogP): &lt;= 5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H-Bond Donors (HBD): &lt;= 5 (gugus -OH, -NH)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H-Bond Acceptors (HBA): &lt;= 10 (atom O, N)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Tujuan: Memprediksi kelayakan absorpsi dan permeabilitas sediaan obat oral.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Saringan Tambahan Bioavailabilitas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Veber Rule: Rotatable Bonds &lt;= 10 &amp; TPSA &lt;= 140 Å² (Ideal permeabilitas membran sel)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Ghose Filter: MW (160-480), LogP (-0.4 s/d 5.6) untuk kesesuaian basis data obat.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Pfizer 3/75 Rule: Deteksi risiko toksisitas in vivo jika LogP &gt; 3 &amp; TPSA &lt; 75 Å².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Akademis | Slide 5 dari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Studi Kasus Isoflavon Kedelai: Genistein, Daidzein &amp; Glycitein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Genistein (CID 5280961)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Formula: C15H10O5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MW: 270.24 g/mol | LogP: 2.7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HBD: 3 | HBA: 5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TPSA: 87.00 Å² | RotB: 1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Skor RO5: 4/4 (Lolos)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Verdict: Isoflavon kedelai utama dengan kelayakan penyerapan oral 100% ideal.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2918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Daidzein (CID 5281708)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Formula: C15H10O4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MW: 254.24 g/mol | LogP: 2.5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HBD: 2 | HBA: 4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TPSA: 66.80 Å² | RotB: 1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Skor RO5: 4/4 (Lolos)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Verdict: Prekursor metabolit equol bioaktif dengan profil lipofilitas tinggi.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828800"/>
            <a:ext cx="32918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10B981"/>
                </a:solidFill>
                <a:latin typeface="Arial"/>
              </a:defRPr>
            </a:pPr>
            <a:r>
              <a:t>Glycitein (CID 5317750)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Formula: C16H12O5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MW: 284.26 g/mol | LogP: 2.4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HBD: 2 | HBA: 5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TPSA: 76.00 Å² | RotB: 2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Skor RO5: 4/4 (Lolos)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Verdict: Metoksidisoflavon alami yang memenuhi seluruh kriteria Lipinski RO5.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Akademis | Slide 6 dari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Keandalan &amp; Robustness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Tiered Property Fallback Query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Menangani dinamika penamaan properti di PubChem API (XLogP vs XLogP3).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Mencoba XLogP -&gt; XLogP3 -&gt; Base Properties secara otomatis.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Mencegah terjadinya error HTTP 400 Bad Request pada senyawa obat mana pun.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Offline Dataset Cache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Menyediakan basis data pra-cache untuk 9+ senyawa obat preset utama.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Menjamin aplikasi tetap beroperasi 100% lancar meski tanpa jaringan internet.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Penanganan error gracefully tanpa dialog popup mengganggu.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Akademis | Slide 7 dari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Trebuchet MS"/>
              </a:defRPr>
            </a:pPr>
            <a:r>
              <a:t>PRESENTASI PROYEK KIMIA FARMASI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  <a:latin typeface="Arial"/>
              </a:defRPr>
            </a:pPr>
            <a:r>
              <a:t>Kesimpulan &amp; Repositori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0728655" cy="411480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18288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06B6D4"/>
                </a:solidFill>
                <a:latin typeface="Arial"/>
              </a:defRPr>
            </a:pPr>
            <a:r>
              <a:t>PharmaPulse 3D Siap Digunakan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PharmaPulse 3D berhasil menggabungkan integrasi data molekul ilmiah PubChem real-time, visualisasi spatial 3D, dan komputasi evaluasi kelayakan obat (QSAR).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• Sangat bermanfaat untuk kegiatan praktikum akademis kimia farmasi maupun analisis awal R&amp;D / QC industri farmasi.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GitHub Repository: https://github.com/novarani1511/pharmapulse-3d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Demo Server Lokal: http://localhost:3000</a:t>
            </a: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200">
                <a:solidFill>
                  <a:srgbClr val="94A3B8"/>
                </a:solidFill>
                <a:latin typeface="Calibri"/>
              </a:defRPr>
            </a:pPr>
            <a:r>
              <a:t>Terima kasih atas perhatian Bapak/Ibu Dosen!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PharmaPulse 3D - Presentasi Akademis | Slide 8 dari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