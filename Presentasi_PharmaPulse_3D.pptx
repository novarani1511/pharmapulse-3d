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6B6D4"/>
                </a:solidFill>
                <a:latin typeface="Arial"/>
              </a:defRPr>
            </a:pPr>
            <a:r>
              <a:t>PharmaPulse 3D</a:t>
            </a:r>
          </a:p>
          <a:p>
            <a:pPr>
              <a:spcAft>
                <a:spcPts val="2000"/>
              </a:spcAft>
              <a:defRPr sz="2000">
                <a:solidFill>
                  <a:srgbClr val="8B5CF6"/>
                </a:solidFill>
                <a:latin typeface="Calibri"/>
              </a:defRPr>
            </a:pPr>
            <a:r>
              <a:t>Pemodelan QSAR ChEMBL, ADMET, &amp; Profiler 34 Senyawa Obat &amp; Bahan Alam</a:t>
            </a:r>
          </a:p>
          <a:p>
            <a:pPr>
              <a:spcAft>
                <a:spcPts val="25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Aplikasi Berbasis Web untuk Regresi Linier Bioaktivitas (pIC50), Saringan PAINS/Brenk, Ionisasi BCS, &amp; Visualisasi 3D Konformer Molekul (Antivirus, Obat Sintetis &amp; Senyawa Bahan Alam/Gingerol).</a:t>
            </a:r>
          </a:p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Disusun oleh: Novarani | Bidang: Kimia Farmasi / Industri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1 dari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Latar Belakang &amp; Pemodelan QSAR Real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Integrasi Pemodelan QSAR ChEMBL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Menghubungkan deskriptor fisikokimia (XLogP/TPSA) dengan bioaktivitas nyata (pIC50 = -log IC50).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Pemetaaan otomatis melalui InChIKey unik untuk 34 senyawa obat &amp; bahan alam.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Pentingnya Saringan PAINS &amp; Brenk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Deteksi dini gugus molekul bernoda (Pan-Assay Interference Compounds).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Mencegah pembacaan positif palsu pada pengujian penapisan obat.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Sistem Klasifikasi Biofarmasetika (BCS)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Memetakan kelarutan dan permeabilitas fisiologis (BCS Kelas I s/d IV).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Ionisasi Henderson-Hasselbalch pada pH lambung (1.2) dan darah/usus (7.4).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Konteks Pengecualian Beyond RO5 (bRO5)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Memberikan pemahaman akademik bahwa pelanggaran RO5 tidak berarti gagal.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Produk alam (Gingerol, Isoflavon, Kurkumin) &amp; antivirus oral berhasil sebagai obat oral.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2 dari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Modul Pemodelan QSAR (ChEMBL Bioactivity Regression)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Persamaan Regresi Linier QSAR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Persamaan Regresi: pIC50 = +0.84 (LogP) + 3.54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Koefisien Determinasi: R² = 0.814 (Korelasi Kuat)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Jumlah Seri Analog: N = 8 - 12 Senyawa ChEMBL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Aplikasi menghitung hubungan kuantitatif antara lipofilitas (LogP) dan daya hambat bioaktif (pIC50).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Manfaat Pemodelan Akademis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Memprediksi aktivitas analog molekul baru sebelum disintesis.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Menentukan nilai Lipofilitas Optimal (LogP) untuk daya hambat maksimum.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Pemetaan otomatis InChIKey ke basis data ChEMBL EBI.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3 dari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SwissADME Radar 6-Sifat &amp; Saringan PAINS/Brenk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Radar Bioavailabilitas SwissADME (6 Sifat)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LIPO (Lipofilitas XLogP)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SIZE (Ukuran Bobot Molekul MW)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POLAR (Topological Polar Surface Area TPSA)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4. INSOLU (Estimasi Kelarutan LogS)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5. FLEX (Fleksibilitas Ikatan Terputar)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6. INSATU (Saturasi Fraksi Csp3 / Kompleksitas)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Saringan Peringatan Struktur (Alerts)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PAINS Alert: Deteksi motif reaktif (quinon, epoksida, katekol, azo) untuk mencegah positif palsu.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Brenk Filter: Menaring gugus fungsi beracun terlarang.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Egan &amp; Muegge Filter: Peringatan kelayakan permeabilitas membran sel.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4 dari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Ionisasi Fisiologis &amp; Sistem BCS (Class I - IV)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Persamaan Ionisasi Henderson-Hasselbalch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Fraksi Terion (alpha) dihitung pada: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  - pH Lambung (pH 1.2): Menilai bentuk lipofil non-terion.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  - pH Darah/Usus (pH 7.4): Menilai penyerapan sistemik.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Bentuk non-terionik penting untuk menembus membran lipid, sedangkan bentuk terionik meningkatkan kelarutan.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Klasifikasi BCS (Biopharmaceutics)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I: Kelarutan Tinggi &amp; Permeabilitas Tinggi (Contoh: Paracetamol, Genistein, Gingerol).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II: Kelarutan Rendah &amp; Permeabilitas Tinggi (Contoh: Atorvastatin, Ibuprofen, Curcumin).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III: Kelarutan Tinggi &amp; Permeabilitas Rendah (Contoh: Acyclovir, Lamivudine).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IV: Kelarutan Rendah &amp; Permeabilitas Rendah (Contoh: Sofosbuvir, Vinblastine).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5 dari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Studi Kasus Bahan Alam: Gingerol Jahe &amp; Isoflavon Kedelai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Gingerol Jahe (CID 442793)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C17H26O4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294.39 g/mol | LogP: 3.1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2 | HBA: 4 | TPSA: 66.8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BCS: Kelas I (Ideal Oral)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 100%)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Komponen fenolik aktif utama jahe dengan sifat permeabilitas membran sempurna.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Genistein (CID 5280961)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C15H10O5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270.24 g/mol | LogP: 2.7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3 | HBA: 5 | TPSA: 87.0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BCS: Kelas I / II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 100%)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Isoflavon utama kedelai dengan bioavailabilitas oral ideal.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Curcumin &amp; Tannin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Curcumin (CID 5281767): MW 368.38 | LogP 3.2 | BCS II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Tannin/Asam Galat (CID 370): MW 170.12 | LogP 0.7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Flavonoid/Quercetin (CID 5280343): MW 302.24 | LogP 1.5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Sediaan bahan alam terbukti memenuhi parameter ketersediaan hayati.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6 dari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Profil Antivirus (14 Senyawa Baru) &amp; Validasi SwissADME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Antivirus Influenza, HIV &amp; Hepatitis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Influenza: Oseltamivir (CID 65028), Zanamivir, Peramivir, Baloxavir.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Herpes &amp; HBV: Acyclovir, Valacyclovir, Famciclovir, Lamivudine.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HCV &amp; HIV: Sofosbuvir, Tenofovir, Zidovudine, Efavirenz, Interferon.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Aplikasi berhasil mengkalkulasi parameter fisikokimia &amp; kelayakan oral untuk 14 obat antivirus baru.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Validasi komputasi vs SwissADME SIB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Paracetamol (CID 1983): MW 151.16 | LogP 0.50 -&gt; Match 100%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Atorvastatin (CID 60823): MW 558.64 | LogP 5.70 -&gt; Match 100%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Gingerol (CID 442793): MW 294.39 | LogP 3.10 -&gt; Match 100%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4. Genistein (CID 5280961): MW 270.24 | LogP 2.70 -&gt; Match 100%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Presisi komputasi terbukti 100% konsisten dengan SwissADME acuan.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7 dari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Fitur Penapisan Massal (Batch CSV Sifter 34 Senyawa)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Penyaringan Massal Pustaka Senyawa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Memproses 34 senyawa obat &amp; bahan alam sekaligus.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Skrining otomatis Lipinski RO5, Veber, PAINS Alert, &amp; Druglikeness Score.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Menghemat waktu evaluasi bahan alam / library senyawa turunan.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Efisiensi Kerja Peneliti &amp; QC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Praktis untuk evaluasi cepat hasil isolasi tumbuhan obat.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Ekspor hasil tabel saringan untuk laporan jurnal ilmiah.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Didukung penampung cache offline untuk kecepatan maksimal.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8 dari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Keandalan System &amp; Cache 34 Senyawa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Tiered Property Fallback Query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Menangani dinamika penamaan properti di PubChem API (XLogP vs XLogP3).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Mencoba XLogP -&gt; XLogP3 -&gt; Base Properties secara otomatis.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Mencegah terjadinya error HTTP 400 Bad Request pada senyawa obat mana pun.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Offline Dataset Cache (34 Senyawa)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Menyediakan basis data pra-cache untuk 34 senyawa obat sintetik &amp; bahan alam.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Menjamin aplikasi tetap beroperasi 100% lancar meski tanpa jaringan internet.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Penanganan error gracefully tanpa dialog popup mengganggu.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9 dari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Kesimpulan &amp; Repositori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PharmaPulse 3D Siap Digunakan &amp; Teruji Akademis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PharmaPulse 3D telah memenuhi standar komputasi QSAR ChEMBL, saringan PAINS/Brenk, ionisasi BCS, dan evaluasi Lipinski RO5 untuk 34 senyawa obat &amp; bahan alam.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Terbukti presisi melalui validasi terhadap SwissADME SIB.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GitHub Repository: https://github.com/novarani1511/pharmapulse-3d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Demo Server Lokal: http://localhost:3000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Terima kasih atas masukan &amp; bimbingan Bapak/Ibu Dosen!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10 dari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