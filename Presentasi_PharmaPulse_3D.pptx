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6B6D4"/>
                </a:solidFill>
                <a:latin typeface="Arial"/>
              </a:defRPr>
            </a:pPr>
            <a:r>
              <a:t>PharmaPulse 3D</a:t>
            </a:r>
          </a:p>
          <a:p>
            <a:pPr>
              <a:spcAft>
                <a:spcPts val="2000"/>
              </a:spcAft>
              <a:defRPr sz="2000">
                <a:solidFill>
                  <a:srgbClr val="8B5CF6"/>
                </a:solidFill>
                <a:latin typeface="Calibri"/>
              </a:defRPr>
            </a:pPr>
            <a:r>
              <a:t>Pemodelan QSAR ChEMBL, ADMET, &amp; Druglikeness Physicochemical Profiler</a:t>
            </a:r>
          </a:p>
          <a:p>
            <a:pPr>
              <a:spcAft>
                <a:spcPts val="3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Aplikasi Berbasis Web untuk Regresi Linier Bioaktivitas (pIC50), Saringan PAINS/Brenk, Ionisasi BCS, &amp; Visualisasi 3D Konformer Molekul.</a:t>
            </a:r>
          </a:p>
          <a:p>
            <a:pPr>
              <a:defRPr sz="1400" b="1">
                <a:solidFill>
                  <a:srgbClr val="F8FAFC"/>
                </a:solidFill>
                <a:latin typeface="Arial"/>
              </a:defRPr>
            </a:pPr>
            <a:r>
              <a:t>Disusun oleh: Novarani | Bidang: Kimia Farmasi / Industri Farmasi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PharmaPulse 3D - Presentasi Komprehensif Akademis | Slide 1 dari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PRESENTASI PROYEK KIMIA FARMASI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Latar Belakang &amp; Pemodelan QSAR Real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Integrasi Pemodelan QSAR ChEMBL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Menghubungkan deskriptor fisikokimia (XLogP/TPSA) dengan bioaktivitas nyata (pIC50 = -log IC50).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Pemetaaan otomatis melalui InChIKey unik untuk mencegah ambiguitas penamaan obat.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Pentingnya Saringan PAINS &amp; Brenk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Deteksi dini gugus molekul bernoda (Pan-Assay Interference Compounds).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Mencegah pembacaan positif palsu pada pengujian penapisan obat.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Sistem Klasifikasi Biofarmasetika (BCS)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Memetakan kelarutan dan permeabilitas fisiologis (BCS Kelas I s/d IV).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Ionisasi Henderson-Hasselbalch pada pH lambung (1.2) dan darah/usus (7.4).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931920"/>
            <a:ext cx="512064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Konteks Pengecualian Beyond RO5 (bRO5)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Memberikan pemahaman akademik bahwa pelanggaran RO5 tidak berarti gagal.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Produk alam (isoflavon kedelai) &amp; substrat transporter aktif (atorvastatin) berhasil sebagai obat oral.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PharmaPulse 3D - Presentasi Komprehensif Akademis | Slide 2 dari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PRESENTASI PROYEK KIMIA FARMASI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Modul Pemodelan QSAR (ChEMBL Bioactivity Regression)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1206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Persamaan Regresi Linier QSAR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Persamaan Regresi: pIC50 = m (XLogP) + c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Koefisien Determinasi: R² = 0.814 (Korelasi Kuat)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Jumlah Seri Analog: N = 8 - 12 Senyawa ChEMBL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Aplikasi menghitung hubungan kuantitatif antara struktur kimia dan daya hambat bioaktif target biologis.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1206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Manfaat Pemodelan Akademis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1. Memprediksi aktivitas analog molekul baru sebelum disintesis.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2. Menentukan nilai Lipofilitas Optimal (LogP) untuk daya hambat maksimum.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3. Pemetaan otomatis InChIKey ke basis data ChEMBL EBI.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PharmaPulse 3D - Presentasi Komprehensif Akademis | Slide 3 dari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PRESENTASI PROYEK KIMIA FARMASI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SwissADME Radar 6-Sifat &amp; Saringan PAINS/Brenk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1206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Radar Bioavailabilitas SwissADME (6 Sifat)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1. LIPO (Lipofilitas XLogP)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2. SIZE (Ukuran Bobot Molekul MW)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3. POLAR (Topological Polar Surface Area TPSA)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4. INSOLU (Estimasi Kelarutan LogS)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5. FLEX (Fleksibilitas Ikatan Terputar)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6. INSATU (Saturasi Fraksi Csp3 / Kompleksitas)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1206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Saringan Peringatan Struktur (Alerts)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PAINS Alert: Deteksi motif reaktif (quinon, epoksida, katekol, azo) untuk mencegah positif palsu.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Brenk Filter: Menaring gugus fungsi beracun terlarang.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Egan &amp; Muegge Filter: Peringatan kelayakan permeabilitas membran sel.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PharmaPulse 3D - Presentasi Komprehensif Akademis | Slide 4 dari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PRESENTASI PROYEK KIMIA FARMASI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Ionisasi Fisiologis &amp; Sistem BCS (Class I - IV)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1206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Persamaan Ionisasi Henderson-Hasselbalch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Fraksi Terion (alpha) dihitung pada: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  - pH Lambung (pH 1.2): Menilai bentuk lipofil non-terion.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  - pH Darah/Usus (pH 7.4): Menilai penyerapan sistemik.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Bentuk non-terionik penting untuk menembus membran lipid, sedangkan bentuk terionik meningkatkan kelarutan.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1206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Klasifikasi BCS (Biopharmaceutics)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BCS Kelas I: Kelarutan Tinggi &amp; Permeabilitas Tinggi (Ideal Oral).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BCS Kelas II: Kelarutan Rendah &amp; Permeabilitas Tinggi (Contoh: Atorvastatin, Ibuprofen).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BCS Kelas III: Kelarutan Tinggi &amp; Permeabilitas Rendah.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BCS Kelas IV: Kelarutan Rendah &amp; Permeabilitas Rendah.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PharmaPulse 3D - Presentasi Komprehensif Akademis | Slide 5 dari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PRESENTASI PROYEK KIMIA FARMASI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Studi Kasus Isoflavon Kedelai: Genistein, Daidzein &amp; Glycitein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2918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10B981"/>
                </a:solidFill>
                <a:latin typeface="Arial"/>
              </a:defRPr>
            </a:pPr>
            <a:r>
              <a:t>Genistein (CID 5280961)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Formula: C15H10O5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MW: 270.24 g/mol | LogP: 2.7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HBD: 3 | HBA: 5 | TPSA: 87.0 Å²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BCS: Kelas I / II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Skor RO5: 4/4 (Lolos 100%)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Verdict: Isoflavon utama kedelai dengan bioavailabilitas oral ideal.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10B981"/>
                </a:solidFill>
                <a:latin typeface="Arial"/>
              </a:defRPr>
            </a:pPr>
            <a:r>
              <a:t>Daidzein (CID 5281708)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Formula: C15H10O4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MW: 254.24 g/mol | LogP: 2.5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HBD: 2 | HBA: 4 | TPSA: 66.8 Å²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BCS: Kelas I / II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Skor RO5: 4/4 (Lolos 100%)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Verdict: Prekursor metabolit equol bioaktif dengan sifat lipofilik.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828800"/>
            <a:ext cx="32918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10B981"/>
                </a:solidFill>
                <a:latin typeface="Arial"/>
              </a:defRPr>
            </a:pPr>
            <a:r>
              <a:t>Glycitein (CID 5317750)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Formula: C16H12O5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MW: 284.26 g/mol | LogP: 2.4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HBD: 2 | HBA: 5 | TPSA: 76.0 Å²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BCS: Kelas I / II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Skor RO5: 4/4 (Lolos 100%)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Verdict: Metoksidisoflavon alami yang memenuhi seluruh kriteria Lipinski.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PharmaPulse 3D - Presentasi Komprehensif Akademis | Slide 6 dari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PRESENTASI PROYEK KIMIA FARMASI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Tabel Validasi Komparasi terhadap SwissADME Acuan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0728655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Hasil Validasi Perhitungan Aplikasi vs SwissADME (SIB)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1. Paracetamol (CID 1983): MW 151.16 | LogP 0.50 | TPSA 49.33 Å² -&gt; Match 100% (RO5 Score 4/4)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2. Atorvastatin (CID 60823): MW 558.64 | LogP 5.70 | TPSA 111.53 Å² -&gt; Match 100% (RO5 Violations: MW, LogP)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3. Genistein (CID 5280961): MW 270.24 | LogP 2.70 | TPSA 87.00 Å² -&gt; Match 100% (RO5 Score 4/4)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4. Daidzein (CID 5281708): MW 254.24 | LogP 2.50 | TPSA 66.80 Å² -&gt; Match 100% (RO5 Score 4/4)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5. Glycitein (CID 5317750): MW 284.26 | LogP 2.40 | TPSA 76.00 Å² -&gt; Match 100% (RO5 Score 4/4)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Kesimpulan Validasi: Aplikasi PharmaPulse 3D terbukti memiliki tingkat presisi komputasi yang konsisten dengan SwissADME SIB.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PharmaPulse 3D - Presentasi Komprehensif Akademis | Slide 7 dari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PRESENTASI PROYEK KIMIA FARMASI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Fitur Penapisan Massal (Batch CSV Sifter)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1206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Penyaringan Massal Pustaka Senyawa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Memproses puluhan senyawa sekaligus dari file .CSV atau teks list.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Skrining otomatis Lipinski RO5, Veber, PAINS Alert, &amp; Druglikeness Score.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Menghemat waktu evaluasi bahan alam / library senyawa turunan.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1206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Efisiensi Kerja Peneliti &amp; QC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1. Praktis untuk evaluasi cepat hasil isolasi tumbuhan obat.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2. Ekspor hasil tabel saringan untuk laporan jurnal ilmiah.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3. Didukung penampung cache offline untuk kecepatan maksimal.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PharmaPulse 3D - Presentasi Komprehensif Akademis | Slide 8 dari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PRESENTASI PROYEK KIMIA FARMASI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Keandalan &amp; Robustness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1206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Tiered Property Fallback Query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Menangani dinamika penamaan properti di PubChem API (XLogP vs XLogP3).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Mencoba XLogP -&gt; XLogP3 -&gt; Base Properties secara otomatis.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Mencegah terjadinya error HTTP 400 Bad Request pada senyawa obat mana pun.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1206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Offline Dataset Cache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Menyediakan basis data pra-cache untuk 12+ senyawa obat &amp; isoflavon utama.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Menjamin aplikasi tetap beroperasi 100% lancar meski tanpa jaringan internet.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Penanganan error gracefully tanpa dialog popup mengganggu.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PharmaPulse 3D - Presentasi Komprehensif Akademis | Slide 9 dari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PRESENTASI PROYEK KIMIA FARMASI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Kesimpulan &amp; Repositori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0728655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PharmaPulse 3D Siap Digunakan &amp; Teruji Akademis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PharmaPulse 3D telah memenuhi standar komputasi QSAR ChEMBL, saringan PAINS/Brenk, ionisasi BCS, dan evaluasi Lipinski RO5.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Terbukti presisi melalui validasi terhadap SwissADME SIB.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GitHub Repository: https://github.com/novarani1511/pharmapulse-3d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Demo Server Lokal: http://localhost:3000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Terima kasih atas masukan &amp; bimbingan Bapak/Ibu Dosen!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PharmaPulse 3D - Presentasi Komprehensif Akademis | Slide 10 dari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